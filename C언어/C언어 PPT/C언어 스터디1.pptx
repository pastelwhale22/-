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7" r:id="rId6"/>
    <p:sldId id="265" r:id="rId7"/>
    <p:sldId id="264" r:id="rId8"/>
    <p:sldId id="268" r:id="rId9"/>
    <p:sldId id="269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1" d="100"/>
          <a:sy n="61" d="100"/>
        </p:scale>
        <p:origin x="62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694687-EFA7-41D9-598E-50576FF1C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4311815-F15C-D450-94AF-D4A6228A9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DDBDD0-05EC-6146-AE8F-EB621A9C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1DF-977F-4E30-8886-DFDB6BCFDAF1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71855A-901C-EFCD-0585-F7AA44188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A2849B-0FD8-A282-268A-396C00A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5B95-7C1C-45C9-AECD-58BE134D2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857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957F1-C1A9-E6C3-FDDF-72211C4A1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3A22-C4D2-974D-916A-1A914D51F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9AA488-AD7A-4C89-C4FB-0BACAB7C0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1DF-977F-4E30-8886-DFDB6BCFDAF1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C833D9-3907-7620-71A1-9B5E8C24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33CB82-2D57-D5ED-95BC-C16A1F870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5B95-7C1C-45C9-AECD-58BE134D2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779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F19E3-FD1E-28F5-672C-BEAE974A4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08B6E5-7D10-E2DC-08B5-9240CA25B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5D4422-C200-355F-6C51-7A11E11C8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1DF-977F-4E30-8886-DFDB6BCFDAF1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174B15-0D16-CF18-2765-05CB4EA47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A5D55D-18F7-75D8-CB01-BC7100909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5B95-7C1C-45C9-AECD-58BE134D2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748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F83599-7088-B8E0-A9F1-2C2FF587A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662DD6-B0E8-FBF2-748C-A4397814B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DE0060-20C1-0FA7-25BC-EECD1E9BE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0C75C5-AAB8-AF10-F33E-35E61116F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1DF-977F-4E30-8886-DFDB6BCFDAF1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B30778-E635-A639-0AEF-85B4EA4CA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473579-7305-4674-2B28-DDCA7902F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5B95-7C1C-45C9-AECD-58BE134D2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883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0FE6F-A904-9F62-4BA4-56260FA63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083C3E-D4A0-075D-4576-BF73845D7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07EC4A-BA6F-3D25-63E6-408ECA482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72BCCA-B82A-41AC-EA1B-9129347640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FFC7050-AF52-58F1-FEC8-E3B366716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5D6111F-2971-4FFD-B76A-F13E2DCFA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1DF-977F-4E30-8886-DFDB6BCFDAF1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FDDB7EE-9D66-5CF8-B697-94A297FB5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8E99D4-A925-191B-1D41-440365389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5B95-7C1C-45C9-AECD-58BE134D2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731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E93352-8785-537E-E1F6-FEAAC22C6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B82DEED-93C9-06CB-30C2-921CF5E7C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1DF-977F-4E30-8886-DFDB6BCFDAF1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2039B2-E081-F8D6-3F48-D22A5E95D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A428AA-C0CC-D62A-634B-A19B3F91C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5B95-7C1C-45C9-AECD-58BE134D2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69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D58E8A6-2735-B7FE-AB02-F91E323DC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1DF-977F-4E30-8886-DFDB6BCFDAF1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C9BFE2-9335-006A-E522-1D619B6E8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081B3C-6A5B-E902-7949-FCB6B6A76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5B95-7C1C-45C9-AECD-58BE134D2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7953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48372D-6913-0CE9-EFF2-B74BA69C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9E6F50-607F-1930-433F-A058FE57F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9B8ACF-4150-2442-1A55-7BA0B8747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02EB9C-71EC-55AD-8BAF-10933937A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1DF-977F-4E30-8886-DFDB6BCFDAF1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4FB6C2-CDC8-B4A2-3DA3-97D39FF7D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BEEABC-30CF-2CBA-891A-2039D83FA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5B95-7C1C-45C9-AECD-58BE134D2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434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F9EB02-F49B-20C1-B0D0-A36A8501A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43C842D-75DB-A9E7-A968-568D2DD28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B92E2F-D9DD-4231-D35F-58846C40E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3D4793-95FC-3CE1-050B-532D47290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1DF-977F-4E30-8886-DFDB6BCFDAF1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0A28F4-5CB8-11B0-80A0-65A3267BA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BFFD62-7761-DDBC-AE68-EE0B09065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5B95-7C1C-45C9-AECD-58BE134D2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575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02E45D-C87E-3A97-2751-ACCBD83CA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097908-39BE-DAE2-23DE-FDD0CFFE3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40ADBD-7142-86BF-BF71-954CE2782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1DF-977F-4E30-8886-DFDB6BCFDAF1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4425EF-EF49-00DE-14A9-98D962DA9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A55B3E-1B12-B892-731E-B4FF496AD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5B95-7C1C-45C9-AECD-58BE134D2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360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270412-8AE6-8C28-F32E-BA1DF0A980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352223F-2743-06FA-097C-5FAD54DB4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AB05B1-800C-7611-D1BC-200940A94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1DF-977F-4E30-8886-DFDB6BCFDAF1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54D133-7DFF-5885-FE07-417CF77A0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A1C221-5DEF-544C-3C67-2F0AD663A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5B95-7C1C-45C9-AECD-58BE134D2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9691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B7E4D91-085E-9716-9B0E-D586D2613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2F6142-0F3B-8A0B-1F64-84BE0BBC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CD4B52-1761-E961-FFDC-C51B05D8B3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741DF-977F-4E30-8886-DFDB6BCFDAF1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53446B-75FC-6D17-3092-F64A43E513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0FBDAD-3C7E-132B-C0F8-86EECB166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25B95-7C1C-45C9-AECD-58BE134D2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092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CCFFB-A8F4-B214-AA15-BAA97F1E86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ICNET </a:t>
            </a:r>
            <a:r>
              <a:rPr lang="ko-KR" altLang="en-US" dirty="0"/>
              <a:t>스터디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8B7D3A0-43DA-7F69-DA95-9E4DE14EB1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C</a:t>
            </a:r>
            <a:r>
              <a:rPr lang="ko-KR" altLang="en-US" dirty="0"/>
              <a:t>언어 </a:t>
            </a:r>
            <a:r>
              <a:rPr lang="en-US" altLang="ko-KR" dirty="0"/>
              <a:t>1</a:t>
            </a:r>
            <a:r>
              <a:rPr lang="ko-KR" altLang="en-US" dirty="0"/>
              <a:t>차 </a:t>
            </a:r>
            <a:r>
              <a:rPr lang="en-US" altLang="ko-KR" dirty="0"/>
              <a:t>(1</a:t>
            </a:r>
            <a:r>
              <a:rPr lang="ko-KR" altLang="en-US" dirty="0"/>
              <a:t>장</a:t>
            </a:r>
            <a:r>
              <a:rPr lang="en-US" altLang="ko-KR" dirty="0"/>
              <a:t>~5</a:t>
            </a:r>
            <a:r>
              <a:rPr lang="ko-KR" altLang="en-US" dirty="0"/>
              <a:t>장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554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BE3A5E-85B6-F3E3-207A-609B12BC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55086" cy="483961"/>
          </a:xfrm>
        </p:spPr>
        <p:txBody>
          <a:bodyPr>
            <a:normAutofit fontScale="90000"/>
          </a:bodyPr>
          <a:lstStyle/>
          <a:p>
            <a:r>
              <a:rPr lang="en-US" altLang="ko-KR" sz="3800" dirty="0"/>
              <a:t>1</a:t>
            </a:r>
            <a:r>
              <a:rPr lang="ko-KR" altLang="en-US" sz="3800" dirty="0"/>
              <a:t>장 </a:t>
            </a:r>
            <a:r>
              <a:rPr lang="en-US" altLang="ko-KR" sz="3800" dirty="0"/>
              <a:t>c</a:t>
            </a:r>
            <a:r>
              <a:rPr lang="ko-KR" altLang="en-US" sz="3800" dirty="0"/>
              <a:t>언어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CD76D5-EA13-3054-9F6D-3E813BB7A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57" y="1143000"/>
            <a:ext cx="10755086" cy="5033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프로그래밍 언어 중 하나</a:t>
            </a:r>
            <a:r>
              <a:rPr lang="en-US" altLang="ko-KR" sz="2000" dirty="0"/>
              <a:t>.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컴퓨터가 사용하는 언어는 기계어</a:t>
            </a:r>
            <a:r>
              <a:rPr lang="en-US" altLang="ko-KR" sz="2000" dirty="0"/>
              <a:t>, c</a:t>
            </a:r>
            <a:r>
              <a:rPr lang="ko-KR" altLang="en-US" sz="2000" dirty="0"/>
              <a:t>언어와 기계어를 이해하는 것이 컴파일러이다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C</a:t>
            </a:r>
            <a:r>
              <a:rPr lang="ko-KR" altLang="en-US" sz="2000" dirty="0"/>
              <a:t>언어의 장점</a:t>
            </a:r>
            <a:r>
              <a:rPr lang="en-US" altLang="ko-KR" sz="2000" dirty="0"/>
              <a:t>1: </a:t>
            </a:r>
            <a:r>
              <a:rPr lang="ko-KR" altLang="en-US" sz="2000" dirty="0"/>
              <a:t>절차지향적 특성</a:t>
            </a:r>
            <a:r>
              <a:rPr lang="en-US" altLang="ko-KR" sz="2000" dirty="0"/>
              <a:t> (</a:t>
            </a:r>
            <a:r>
              <a:rPr lang="ko-KR" altLang="en-US" sz="2000" dirty="0"/>
              <a:t>정해진 순서로 실행</a:t>
            </a:r>
            <a:r>
              <a:rPr lang="en-US" altLang="ko-KR" sz="2000" dirty="0"/>
              <a:t>)</a:t>
            </a:r>
            <a:r>
              <a:rPr lang="en-US" altLang="ko-KR" sz="2000" dirty="0">
                <a:sym typeface="Wingdings" panose="05000000000000000000" pitchFamily="2" charset="2"/>
              </a:rPr>
              <a:t></a:t>
            </a:r>
            <a:r>
              <a:rPr lang="ko-KR" altLang="en-US" sz="2000" dirty="0">
                <a:sym typeface="Wingdings" panose="05000000000000000000" pitchFamily="2" charset="2"/>
              </a:rPr>
              <a:t>순서가 중요 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C</a:t>
            </a:r>
            <a:r>
              <a:rPr lang="ko-KR" altLang="en-US" sz="2000" dirty="0">
                <a:sym typeface="Wingdings" panose="05000000000000000000" pitchFamily="2" charset="2"/>
              </a:rPr>
              <a:t>언어의 장점</a:t>
            </a:r>
            <a:r>
              <a:rPr lang="en-US" altLang="ko-KR" sz="2000" dirty="0">
                <a:sym typeface="Wingdings" panose="05000000000000000000" pitchFamily="2" charset="2"/>
              </a:rPr>
              <a:t>2:C</a:t>
            </a:r>
            <a:r>
              <a:rPr lang="ko-KR" altLang="en-US" sz="2000" dirty="0">
                <a:sym typeface="Wingdings" panose="05000000000000000000" pitchFamily="2" charset="2"/>
              </a:rPr>
              <a:t>언어로 작성된 프로그램은 이식성이 좋다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C</a:t>
            </a:r>
            <a:r>
              <a:rPr lang="ko-KR" altLang="en-US" sz="2000" dirty="0">
                <a:sym typeface="Wingdings" panose="05000000000000000000" pitchFamily="2" charset="2"/>
              </a:rPr>
              <a:t>언어의 장점</a:t>
            </a:r>
            <a:r>
              <a:rPr lang="en-US" altLang="ko-KR" sz="2000" dirty="0">
                <a:sym typeface="Wingdings" panose="05000000000000000000" pitchFamily="2" charset="2"/>
              </a:rPr>
              <a:t>3:C</a:t>
            </a:r>
            <a:r>
              <a:rPr lang="ko-KR" altLang="en-US" sz="2000" dirty="0">
                <a:sym typeface="Wingdings" panose="05000000000000000000" pitchFamily="2" charset="2"/>
              </a:rPr>
              <a:t>언어로 구현된 프로그램은 좋은 성능을 보인다</a:t>
            </a:r>
            <a:r>
              <a:rPr lang="en-US" altLang="ko-KR" sz="20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036543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BE3A5E-85B6-F3E3-207A-609B12BC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55086" cy="483961"/>
          </a:xfrm>
        </p:spPr>
        <p:txBody>
          <a:bodyPr>
            <a:normAutofit fontScale="90000"/>
          </a:bodyPr>
          <a:lstStyle/>
          <a:p>
            <a:r>
              <a:rPr lang="en-US" altLang="ko-KR" sz="3800" dirty="0"/>
              <a:t>2</a:t>
            </a:r>
            <a:r>
              <a:rPr lang="ko-KR" altLang="en-US" sz="3800" dirty="0"/>
              <a:t>장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CD76D5-EA13-3054-9F6D-3E813BB7A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57" y="1143000"/>
            <a:ext cx="10755086" cy="5033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500" dirty="0"/>
              <a:t>함수의 정의</a:t>
            </a:r>
            <a:r>
              <a:rPr lang="en-US" altLang="ko-KR" sz="1500" dirty="0"/>
              <a:t>: </a:t>
            </a:r>
            <a:r>
              <a:rPr lang="ko-KR" altLang="en-US" sz="1500" dirty="0"/>
              <a:t>만들어진 함수</a:t>
            </a:r>
            <a:r>
              <a:rPr lang="en-US" altLang="ko-KR" sz="1500" dirty="0"/>
              <a:t>, </a:t>
            </a:r>
            <a:r>
              <a:rPr lang="ko-KR" altLang="en-US" sz="1500" dirty="0"/>
              <a:t>실행이 가능한 함수를 뜻한다</a:t>
            </a:r>
            <a:endParaRPr lang="en-US" altLang="ko-KR" sz="1500" dirty="0"/>
          </a:p>
          <a:p>
            <a:pPr marL="0" indent="0">
              <a:buNone/>
            </a:pPr>
            <a:r>
              <a:rPr lang="ko-KR" altLang="en-US" sz="1500" dirty="0"/>
              <a:t>함수의 호출</a:t>
            </a:r>
            <a:r>
              <a:rPr lang="en-US" altLang="ko-KR" sz="1500" dirty="0"/>
              <a:t>: </a:t>
            </a:r>
            <a:r>
              <a:rPr lang="ko-KR" altLang="en-US" sz="1500" dirty="0"/>
              <a:t>함수의 실행을 명령하는 행위</a:t>
            </a:r>
            <a:endParaRPr lang="en-US" altLang="ko-KR" sz="1500" dirty="0"/>
          </a:p>
          <a:p>
            <a:pPr marL="0" indent="0">
              <a:buNone/>
            </a:pPr>
            <a:r>
              <a:rPr lang="ko-KR" altLang="en-US" sz="1500" dirty="0"/>
              <a:t>인지의 전달</a:t>
            </a:r>
            <a:r>
              <a:rPr lang="en-US" altLang="ko-KR" sz="1500" dirty="0"/>
              <a:t>: </a:t>
            </a:r>
            <a:r>
              <a:rPr lang="ko-KR" altLang="en-US" sz="1500" dirty="0"/>
              <a:t>함수의 실행을 명령할 때 전달하는 입력 값</a:t>
            </a:r>
            <a:endParaRPr lang="en-US" altLang="ko-KR" sz="1500" dirty="0"/>
          </a:p>
          <a:p>
            <a:pPr marL="0" indent="0">
              <a:buNone/>
            </a:pPr>
            <a:r>
              <a:rPr lang="en-US" altLang="ko-KR" sz="1500" dirty="0"/>
              <a:t>#include</a:t>
            </a:r>
            <a:r>
              <a:rPr lang="ko-KR" altLang="en-US" sz="1500" dirty="0"/>
              <a:t> </a:t>
            </a:r>
            <a:r>
              <a:rPr lang="en-US" altLang="ko-KR" sz="1500" dirty="0"/>
              <a:t>&lt;</a:t>
            </a:r>
            <a:r>
              <a:rPr lang="en-US" altLang="ko-KR" sz="1500" dirty="0" err="1"/>
              <a:t>stdio.h</a:t>
            </a:r>
            <a:r>
              <a:rPr lang="en-US" altLang="ko-KR" sz="1500" dirty="0"/>
              <a:t>&gt;                              -----</a:t>
            </a:r>
            <a:r>
              <a:rPr lang="ko-KR" altLang="en-US" sz="1500" dirty="0"/>
              <a:t>헤더파일 선언</a:t>
            </a:r>
            <a:endParaRPr lang="en-US" altLang="ko-KR" sz="1500" dirty="0"/>
          </a:p>
          <a:p>
            <a:pPr marL="0" indent="0" algn="just" latinLnBrk="1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Int main(void)                                     ----- </a:t>
            </a:r>
            <a:r>
              <a:rPr lang="en-US" altLang="ko-KR" sz="15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int(</a:t>
            </a:r>
            <a:r>
              <a:rPr lang="ko-KR" altLang="en-US" sz="15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출력형태</a:t>
            </a:r>
            <a:r>
              <a:rPr lang="en-US" altLang="ko-KR" sz="15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), main(</a:t>
            </a:r>
            <a:r>
              <a:rPr lang="ko-KR" altLang="en-US" sz="15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함수이름</a:t>
            </a:r>
            <a:r>
              <a:rPr lang="en-US" altLang="ko-KR" sz="15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), void(</a:t>
            </a:r>
            <a:r>
              <a:rPr lang="ko-KR" altLang="en-US" sz="15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입력형태</a:t>
            </a:r>
            <a:r>
              <a:rPr lang="en-US" altLang="ko-KR" sz="15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marL="0" indent="0" algn="just" latinLnBrk="1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altLang="ko-KR" sz="15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{</a:t>
            </a:r>
            <a:endParaRPr lang="ko-KR" altLang="ko-KR" sz="15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0" algn="just" latinLnBrk="1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	</a:t>
            </a:r>
            <a:r>
              <a:rPr lang="en-US" altLang="ko-KR" sz="15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printf</a:t>
            </a: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(“Hello World!\n”);         ----- </a:t>
            </a:r>
            <a:r>
              <a:rPr lang="en-US" altLang="ko-KR" sz="15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printf</a:t>
            </a:r>
            <a:r>
              <a:rPr lang="ko-KR" altLang="en-US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문</a:t>
            </a: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;(</a:t>
            </a:r>
            <a:r>
              <a:rPr lang="ko-KR" altLang="en-US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문장의</a:t>
            </a: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끝</a:t>
            </a: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), \n(</a:t>
            </a:r>
            <a:r>
              <a:rPr lang="ko-KR" altLang="en-US" sz="15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줄바꿈</a:t>
            </a: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15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0" algn="just" latinLnBrk="1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	return 0;</a:t>
            </a:r>
            <a:r>
              <a:rPr lang="en-US" altLang="ko-KR" sz="15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               -----return</a:t>
            </a:r>
            <a:r>
              <a:rPr lang="ko-KR" altLang="en-US" sz="15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문</a:t>
            </a:r>
            <a:endParaRPr lang="en-US" altLang="ko-KR" sz="15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0" algn="just" latinLnBrk="1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}</a:t>
            </a:r>
            <a:endParaRPr lang="ko-KR" altLang="ko-KR" sz="15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altLang="en-US" sz="1500" dirty="0"/>
              <a:t>표준함수</a:t>
            </a:r>
            <a:r>
              <a:rPr lang="en-US" altLang="ko-KR" sz="1500" dirty="0"/>
              <a:t>: </a:t>
            </a:r>
            <a:r>
              <a:rPr lang="ko-KR" altLang="en-US" sz="1500" dirty="0"/>
              <a:t>기본적으로 제공되는 함수</a:t>
            </a:r>
            <a:r>
              <a:rPr lang="en-US" altLang="ko-KR" sz="1500" dirty="0"/>
              <a:t>(ex. </a:t>
            </a:r>
            <a:r>
              <a:rPr lang="en-US" altLang="ko-KR" sz="1500" dirty="0" err="1"/>
              <a:t>Printf</a:t>
            </a:r>
            <a:r>
              <a:rPr lang="ko-KR" altLang="en-US" sz="1500" dirty="0"/>
              <a:t>문</a:t>
            </a:r>
            <a:r>
              <a:rPr lang="en-US" altLang="ko-KR" sz="1500" dirty="0"/>
              <a:t>) , </a:t>
            </a:r>
            <a:r>
              <a:rPr lang="ko-KR" altLang="en-US" sz="1500" dirty="0"/>
              <a:t>표준함수가 모여져 있는 것을 표준 라이브러리 </a:t>
            </a:r>
            <a:endParaRPr lang="en-US" altLang="ko-KR" sz="1500" dirty="0"/>
          </a:p>
          <a:p>
            <a:pPr marL="0" indent="0">
              <a:buNone/>
            </a:pPr>
            <a:r>
              <a:rPr lang="ko-KR" altLang="en-US" sz="1500" dirty="0"/>
              <a:t>주석</a:t>
            </a:r>
            <a:r>
              <a:rPr lang="en-US" altLang="ko-KR" sz="1500" dirty="0"/>
              <a:t>: </a:t>
            </a:r>
            <a:r>
              <a:rPr lang="ko-KR" altLang="en-US" sz="1500" dirty="0"/>
              <a:t>프로그램 내에 삽입된 메모</a:t>
            </a:r>
            <a:r>
              <a:rPr lang="en-US" altLang="ko-KR" sz="1500" dirty="0"/>
              <a:t>.                      ----- /*  */(</a:t>
            </a:r>
            <a:r>
              <a:rPr lang="ko-KR" altLang="en-US" sz="1500" dirty="0"/>
              <a:t>블록단위</a:t>
            </a:r>
            <a:r>
              <a:rPr lang="en-US" altLang="ko-KR" sz="1500" dirty="0"/>
              <a:t>), //(</a:t>
            </a:r>
            <a:r>
              <a:rPr lang="ko-KR" altLang="en-US" sz="1500" dirty="0"/>
              <a:t>행 단위</a:t>
            </a:r>
            <a:r>
              <a:rPr lang="en-US" altLang="ko-KR" sz="1500" dirty="0"/>
              <a:t>)</a:t>
            </a:r>
          </a:p>
          <a:p>
            <a:pPr marL="0" indent="0">
              <a:buNone/>
            </a:pPr>
            <a:r>
              <a:rPr lang="ko-KR" altLang="en-US" sz="1500" dirty="0"/>
              <a:t>서식 문자</a:t>
            </a:r>
            <a:r>
              <a:rPr lang="en-US" altLang="ko-KR" sz="1500" dirty="0"/>
              <a:t>(%d): </a:t>
            </a:r>
            <a:r>
              <a:rPr lang="ko-KR" altLang="en-US" sz="1500" dirty="0"/>
              <a:t>지정된 것을 출력한다</a:t>
            </a:r>
            <a:r>
              <a:rPr lang="en-US" altLang="ko-KR" sz="1500" dirty="0"/>
              <a:t>.                ----- ex)</a:t>
            </a:r>
            <a:r>
              <a:rPr lang="en-US" altLang="ko-KR" sz="1500" dirty="0" err="1"/>
              <a:t>printf</a:t>
            </a:r>
            <a:r>
              <a:rPr lang="en-US" altLang="ko-KR" sz="1500" dirty="0"/>
              <a:t>(“%d\n”,1);  “1\n”</a:t>
            </a:r>
          </a:p>
          <a:p>
            <a:pPr marL="0" indent="0">
              <a:buNone/>
            </a:pP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1937715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BE3A5E-85B6-F3E3-207A-609B12BC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871" y="300944"/>
            <a:ext cx="10755086" cy="483961"/>
          </a:xfrm>
        </p:spPr>
        <p:txBody>
          <a:bodyPr>
            <a:normAutofit fontScale="90000"/>
          </a:bodyPr>
          <a:lstStyle/>
          <a:p>
            <a:r>
              <a:rPr lang="en-US" altLang="ko-KR" sz="3800" dirty="0"/>
              <a:t>3</a:t>
            </a:r>
            <a:r>
              <a:rPr lang="ko-KR" altLang="en-US" sz="3800" dirty="0"/>
              <a:t>장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CD76D5-EA13-3054-9F6D-3E813BB7A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57" y="1143000"/>
            <a:ext cx="10755086" cy="5033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변수</a:t>
            </a:r>
            <a:endParaRPr lang="en-US" altLang="ko-KR" sz="2000" dirty="0"/>
          </a:p>
          <a:p>
            <a:pPr marL="0" indent="0">
              <a:buNone/>
            </a:pPr>
            <a:r>
              <a:rPr lang="pt-BR" altLang="ko-KR" sz="2000" dirty="0"/>
              <a:t>int main(void)</a:t>
            </a:r>
          </a:p>
          <a:p>
            <a:pPr marL="0" indent="0">
              <a:buNone/>
            </a:pPr>
            <a:r>
              <a:rPr lang="pt-BR" altLang="ko-KR" sz="2000" dirty="0"/>
              <a:t>{</a:t>
            </a:r>
          </a:p>
          <a:p>
            <a:pPr marL="0" indent="0">
              <a:buNone/>
            </a:pPr>
            <a:r>
              <a:rPr lang="pt-BR" altLang="ko-KR" sz="2000" dirty="0"/>
              <a:t>	int num1, num2; </a:t>
            </a:r>
          </a:p>
          <a:p>
            <a:pPr marL="0" indent="0">
              <a:buNone/>
            </a:pPr>
            <a:r>
              <a:rPr lang="pt-BR" altLang="ko-KR" sz="2000" dirty="0"/>
              <a:t>	num1=20; </a:t>
            </a:r>
          </a:p>
          <a:p>
            <a:pPr marL="0" indent="0">
              <a:buNone/>
            </a:pPr>
            <a:r>
              <a:rPr lang="pt-BR" altLang="ko-KR" sz="2000" dirty="0"/>
              <a:t>	scanf("%d",&amp;num2);</a:t>
            </a:r>
          </a:p>
          <a:p>
            <a:pPr marL="0" indent="0">
              <a:buNone/>
            </a:pPr>
            <a:r>
              <a:rPr lang="pt-BR" altLang="ko-KR" sz="2000" dirty="0"/>
              <a:t>	printf("%d %d",num1,num2);</a:t>
            </a:r>
          </a:p>
          <a:p>
            <a:pPr marL="0" indent="0">
              <a:buNone/>
            </a:pPr>
            <a:r>
              <a:rPr lang="pt-BR" altLang="ko-KR" sz="2000" dirty="0"/>
              <a:t>	</a:t>
            </a:r>
          </a:p>
          <a:p>
            <a:pPr marL="0" indent="0">
              <a:buNone/>
            </a:pPr>
            <a:r>
              <a:rPr lang="pt-BR" altLang="ko-KR" sz="2000" dirty="0"/>
              <a:t>return 0;</a:t>
            </a:r>
          </a:p>
          <a:p>
            <a:pPr marL="0" indent="0">
              <a:buNone/>
            </a:pPr>
            <a:r>
              <a:rPr lang="pt-BR" altLang="ko-KR" sz="2000" dirty="0"/>
              <a:t>}</a:t>
            </a:r>
          </a:p>
          <a:p>
            <a:pPr marL="0" indent="0">
              <a:buNone/>
            </a:pPr>
            <a:r>
              <a:rPr lang="ko-KR" altLang="en-US" sz="2000" dirty="0"/>
              <a:t>변수의 자료형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	</a:t>
            </a:r>
            <a:r>
              <a:rPr lang="ko-KR" altLang="en-US" sz="2000" dirty="0"/>
              <a:t>정수형 변수</a:t>
            </a:r>
            <a:r>
              <a:rPr lang="en-US" altLang="ko-KR" sz="2000" dirty="0"/>
              <a:t>, </a:t>
            </a:r>
            <a:r>
              <a:rPr lang="ko-KR" altLang="en-US" sz="2000" dirty="0"/>
              <a:t>실수형 변수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836142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BE3A5E-85B6-F3E3-207A-609B12BC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871" y="300944"/>
            <a:ext cx="10755086" cy="483961"/>
          </a:xfrm>
        </p:spPr>
        <p:txBody>
          <a:bodyPr>
            <a:normAutofit fontScale="90000"/>
          </a:bodyPr>
          <a:lstStyle/>
          <a:p>
            <a:r>
              <a:rPr lang="en-US" altLang="ko-KR" sz="3800" dirty="0"/>
              <a:t>3</a:t>
            </a:r>
            <a:r>
              <a:rPr lang="ko-KR" altLang="en-US" sz="3800" dirty="0"/>
              <a:t>장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CD76D5-EA13-3054-9F6D-3E813BB7A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57" y="1143000"/>
            <a:ext cx="10755086" cy="4839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연산자</a:t>
            </a:r>
            <a:endParaRPr lang="en-US" altLang="ko-KR" sz="20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BFEB2E4-387D-2154-A6C2-9427105384F7}"/>
              </a:ext>
            </a:extLst>
          </p:cNvPr>
          <p:cNvSpPr txBox="1">
            <a:spLocks/>
          </p:cNvSpPr>
          <p:nvPr/>
        </p:nvSpPr>
        <p:spPr>
          <a:xfrm>
            <a:off x="718457" y="1626961"/>
            <a:ext cx="5377543" cy="49300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/>
              <a:t>대입 연산자</a:t>
            </a:r>
            <a:r>
              <a:rPr lang="en-US" altLang="ko-KR" sz="2000" dirty="0"/>
              <a:t>(=)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/>
              <a:t>산술 연산자</a:t>
            </a:r>
            <a:r>
              <a:rPr lang="en-US" altLang="ko-KR" sz="2000" dirty="0"/>
              <a:t>(+, -, *, /, %)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/>
              <a:t>복합 대입 연산자</a:t>
            </a:r>
            <a:r>
              <a:rPr lang="en-US" altLang="ko-KR" sz="2000" dirty="0"/>
              <a:t>(*=, /=, %=,+=, -=, &lt;&lt;=, &gt;&gt;=, &amp;=, ^=, |=)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/>
              <a:t>+</a:t>
            </a:r>
            <a:r>
              <a:rPr lang="ko-KR" altLang="en-US" sz="2000" dirty="0"/>
              <a:t>연산자와 </a:t>
            </a:r>
            <a:r>
              <a:rPr lang="en-US" altLang="ko-KR" sz="2000" dirty="0"/>
              <a:t>–</a:t>
            </a:r>
            <a:r>
              <a:rPr lang="ko-KR" altLang="en-US" sz="2000" dirty="0"/>
              <a:t>연산자</a:t>
            </a:r>
            <a:r>
              <a:rPr lang="en-US" altLang="ko-KR" sz="2000" dirty="0"/>
              <a:t>(</a:t>
            </a:r>
            <a:r>
              <a:rPr lang="ko-KR" altLang="en-US" sz="2000" dirty="0"/>
              <a:t>부호연산</a:t>
            </a:r>
            <a:r>
              <a:rPr lang="en-US" altLang="ko-KR" sz="20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/>
              <a:t>증가</a:t>
            </a:r>
            <a:r>
              <a:rPr lang="en-US" altLang="ko-KR" sz="2000" dirty="0"/>
              <a:t>, </a:t>
            </a:r>
            <a:r>
              <a:rPr lang="ko-KR" altLang="en-US" sz="2000" dirty="0"/>
              <a:t>감소 연산자</a:t>
            </a:r>
            <a:r>
              <a:rPr lang="en-US" altLang="ko-KR" sz="2000" dirty="0"/>
              <a:t>(++num,</a:t>
            </a:r>
            <a:r>
              <a:rPr lang="ko-KR" altLang="en-US" sz="2000" dirty="0"/>
              <a:t> </a:t>
            </a:r>
            <a:r>
              <a:rPr lang="en-US" altLang="ko-KR" sz="2000" dirty="0"/>
              <a:t>--num,</a:t>
            </a:r>
            <a:r>
              <a:rPr lang="ko-KR" altLang="en-US" sz="2000" dirty="0"/>
              <a:t> </a:t>
            </a:r>
            <a:r>
              <a:rPr lang="en-US" altLang="ko-KR" sz="2000" dirty="0"/>
              <a:t>num++, num--)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/>
              <a:t>관계 연산자</a:t>
            </a:r>
            <a:r>
              <a:rPr lang="en-US" altLang="ko-KR" sz="2000" dirty="0"/>
              <a:t>(&lt;, &gt;, ==, !=, &lt;=, &gt;=)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/>
              <a:t>논리 연산자</a:t>
            </a:r>
            <a:r>
              <a:rPr lang="en-US" altLang="ko-KR" sz="2000" dirty="0"/>
              <a:t>(&amp;&amp;, ||, !)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/>
              <a:t>콤마 연산자</a:t>
            </a:r>
            <a:r>
              <a:rPr lang="en-US" altLang="ko-KR" sz="2000" dirty="0"/>
              <a:t>(,)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15AC4C9-E716-2A44-570F-A11583735D9D}"/>
              </a:ext>
            </a:extLst>
          </p:cNvPr>
          <p:cNvSpPr txBox="1">
            <a:spLocks/>
          </p:cNvSpPr>
          <p:nvPr/>
        </p:nvSpPr>
        <p:spPr>
          <a:xfrm>
            <a:off x="6096000" y="1622492"/>
            <a:ext cx="5377543" cy="4930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/>
          </a:p>
        </p:txBody>
      </p:sp>
      <p:pic>
        <p:nvPicPr>
          <p:cNvPr id="9" name="그림 8" descr="텍스트, 번호, 친필, 평행이(가) 표시된 사진&#10;&#10;자동 생성된 설명">
            <a:extLst>
              <a:ext uri="{FF2B5EF4-FFF2-40B4-BE49-F238E27FC236}">
                <a16:creationId xmlns:a16="http://schemas.microsoft.com/office/drawing/2014/main" id="{F5A03696-C6DC-8103-44DF-1EEC49074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642" y="1759913"/>
            <a:ext cx="4503117" cy="479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72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BE3A5E-85B6-F3E3-207A-609B12BC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55086" cy="483961"/>
          </a:xfrm>
        </p:spPr>
        <p:txBody>
          <a:bodyPr>
            <a:normAutofit fontScale="90000"/>
          </a:bodyPr>
          <a:lstStyle/>
          <a:p>
            <a:r>
              <a:rPr lang="en-US" altLang="ko-KR" sz="3800" dirty="0"/>
              <a:t>4</a:t>
            </a:r>
            <a:r>
              <a:rPr lang="ko-KR" altLang="en-US" sz="3800" dirty="0"/>
              <a:t>장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CD76D5-EA13-3054-9F6D-3E813BB7A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57" y="1143000"/>
            <a:ext cx="10755086" cy="5033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500" dirty="0"/>
              <a:t>비트연산자</a:t>
            </a:r>
            <a:r>
              <a:rPr lang="en-US" altLang="ko-KR" sz="1500" dirty="0"/>
              <a:t>: </a:t>
            </a:r>
            <a:r>
              <a:rPr lang="ko-KR" altLang="en-US" sz="1500" dirty="0"/>
              <a:t>비트단위로 연산을 진행</a:t>
            </a:r>
            <a:r>
              <a:rPr lang="en-US" altLang="ko-KR" sz="1500" dirty="0"/>
              <a:t>, </a:t>
            </a:r>
            <a:r>
              <a:rPr lang="ko-KR" altLang="en-US" sz="1500" dirty="0"/>
              <a:t>주로 하드웨어 관련 프로그래밍에 활용</a:t>
            </a:r>
            <a:endParaRPr lang="en-US" altLang="ko-KR" sz="1500" dirty="0"/>
          </a:p>
          <a:p>
            <a:pPr marL="0" indent="0">
              <a:buNone/>
            </a:pPr>
            <a:r>
              <a:rPr lang="ko-KR" altLang="en-US" sz="1500" dirty="0"/>
              <a:t>결합방향</a:t>
            </a:r>
            <a:r>
              <a:rPr lang="en-US" altLang="ko-KR" sz="1500" dirty="0"/>
              <a:t>(</a:t>
            </a:r>
            <a:r>
              <a:rPr lang="en-US" altLang="ko-KR" sz="1500" dirty="0">
                <a:sym typeface="Wingdings" panose="05000000000000000000" pitchFamily="2" charset="2"/>
              </a:rPr>
              <a:t></a:t>
            </a:r>
            <a:r>
              <a:rPr lang="en-US" altLang="ko-KR" sz="1500" dirty="0"/>
              <a:t>)</a:t>
            </a:r>
          </a:p>
          <a:p>
            <a:pPr marL="0" indent="0">
              <a:buNone/>
            </a:pPr>
            <a:r>
              <a:rPr lang="en-US" altLang="ko-KR" sz="1200" dirty="0"/>
              <a:t>&amp;: </a:t>
            </a:r>
            <a:r>
              <a:rPr lang="ko-KR" altLang="en-US" sz="1200" dirty="0"/>
              <a:t>비트단위로 </a:t>
            </a:r>
            <a:r>
              <a:rPr lang="en-US" altLang="ko-KR" sz="1200" dirty="0"/>
              <a:t>AND </a:t>
            </a:r>
            <a:r>
              <a:rPr lang="ko-KR" altLang="en-US" sz="1200" dirty="0"/>
              <a:t>연산을 한다</a:t>
            </a:r>
          </a:p>
          <a:p>
            <a:pPr marL="0" indent="0">
              <a:buNone/>
            </a:pPr>
            <a:r>
              <a:rPr lang="en-US" altLang="ko-KR" sz="1200" dirty="0"/>
              <a:t>	&amp; </a:t>
            </a:r>
            <a:r>
              <a:rPr lang="ko-KR" altLang="en-US" sz="1200" dirty="0"/>
              <a:t>연산은 두개의 비트가 모두 </a:t>
            </a:r>
            <a:r>
              <a:rPr lang="en-US" altLang="ko-KR" sz="1200" dirty="0"/>
              <a:t>1</a:t>
            </a:r>
            <a:r>
              <a:rPr lang="ko-KR" altLang="en-US" sz="1200" dirty="0"/>
              <a:t>일 때 </a:t>
            </a:r>
            <a:r>
              <a:rPr lang="en-US" altLang="ko-KR" sz="1200" dirty="0"/>
              <a:t>1</a:t>
            </a:r>
            <a:r>
              <a:rPr lang="ko-KR" altLang="en-US" sz="1200" dirty="0"/>
              <a:t>을 반환하는 연산이다</a:t>
            </a:r>
          </a:p>
          <a:p>
            <a:pPr marL="0" indent="0">
              <a:buNone/>
            </a:pPr>
            <a:r>
              <a:rPr lang="en-US" altLang="ko-KR" sz="1200" dirty="0"/>
              <a:t>|: </a:t>
            </a:r>
            <a:r>
              <a:rPr lang="ko-KR" altLang="en-US" sz="1200" dirty="0"/>
              <a:t>비트단위로 </a:t>
            </a:r>
            <a:r>
              <a:rPr lang="en-US" altLang="ko-KR" sz="1200" dirty="0"/>
              <a:t>OR </a:t>
            </a:r>
            <a:r>
              <a:rPr lang="ko-KR" altLang="en-US" sz="1200" dirty="0"/>
              <a:t>연산을 한다</a:t>
            </a:r>
          </a:p>
          <a:p>
            <a:pPr marL="0" indent="0">
              <a:buNone/>
            </a:pPr>
            <a:r>
              <a:rPr lang="en-US" altLang="ko-KR" sz="1200" dirty="0"/>
              <a:t>	| </a:t>
            </a:r>
            <a:r>
              <a:rPr lang="ko-KR" altLang="en-US" sz="1200" dirty="0"/>
              <a:t>연산은 두개의 비트 중 하나라도 </a:t>
            </a:r>
            <a:r>
              <a:rPr lang="en-US" altLang="ko-KR" sz="1200" dirty="0"/>
              <a:t>1</a:t>
            </a:r>
            <a:r>
              <a:rPr lang="ko-KR" altLang="en-US" sz="1200" dirty="0"/>
              <a:t>이면 </a:t>
            </a:r>
            <a:r>
              <a:rPr lang="en-US" altLang="ko-KR" sz="1200" dirty="0"/>
              <a:t>1</a:t>
            </a:r>
            <a:r>
              <a:rPr lang="ko-KR" altLang="en-US" sz="1200" dirty="0"/>
              <a:t>을 반환하는 연산이다</a:t>
            </a:r>
          </a:p>
          <a:p>
            <a:pPr marL="0" indent="0">
              <a:buNone/>
            </a:pPr>
            <a:r>
              <a:rPr lang="en-US" altLang="ko-KR" sz="1200" dirty="0"/>
              <a:t>^: </a:t>
            </a:r>
            <a:r>
              <a:rPr lang="ko-KR" altLang="en-US" sz="1200" dirty="0"/>
              <a:t>비트단위로 </a:t>
            </a:r>
            <a:r>
              <a:rPr lang="en-US" altLang="ko-KR" sz="1200" dirty="0"/>
              <a:t>XOR</a:t>
            </a:r>
            <a:r>
              <a:rPr lang="ko-KR" altLang="en-US" sz="1200" dirty="0"/>
              <a:t>연산을 한다</a:t>
            </a:r>
          </a:p>
          <a:p>
            <a:pPr marL="0" indent="0">
              <a:buNone/>
            </a:pPr>
            <a:r>
              <a:rPr lang="en-US" altLang="ko-KR" sz="1200" dirty="0"/>
              <a:t>	^</a:t>
            </a:r>
            <a:r>
              <a:rPr lang="ko-KR" altLang="en-US" sz="1200" dirty="0"/>
              <a:t>연산은 두개의 비트가 서로 다른 경우에 </a:t>
            </a:r>
            <a:r>
              <a:rPr lang="en-US" altLang="ko-KR" sz="1200" dirty="0"/>
              <a:t>1</a:t>
            </a:r>
            <a:r>
              <a:rPr lang="ko-KR" altLang="en-US" sz="1200" dirty="0"/>
              <a:t>을 반환하는 연산이다</a:t>
            </a:r>
          </a:p>
          <a:p>
            <a:pPr marL="0" indent="0">
              <a:buNone/>
            </a:pPr>
            <a:r>
              <a:rPr lang="en-US" altLang="ko-KR" sz="1200" dirty="0"/>
              <a:t>~: </a:t>
            </a:r>
            <a:r>
              <a:rPr lang="ko-KR" altLang="en-US" sz="1200" dirty="0" err="1"/>
              <a:t>단항</a:t>
            </a:r>
            <a:r>
              <a:rPr lang="ko-KR" altLang="en-US" sz="1200" dirty="0"/>
              <a:t> 연산자로서 피연산자의 모든 비트를 반전시킨다</a:t>
            </a:r>
            <a:r>
              <a:rPr lang="en-US" altLang="ko-KR" sz="1200" dirty="0"/>
              <a:t>(NOT </a:t>
            </a:r>
            <a:r>
              <a:rPr lang="ko-KR" altLang="en-US" sz="1200" dirty="0"/>
              <a:t>연산</a:t>
            </a:r>
            <a:r>
              <a:rPr lang="en-US" altLang="ko-KR" sz="1200" dirty="0"/>
              <a:t>)</a:t>
            </a:r>
          </a:p>
          <a:p>
            <a:pPr marL="0" indent="0">
              <a:buNone/>
            </a:pPr>
            <a:r>
              <a:rPr lang="en-US" altLang="ko-KR" sz="1200" dirty="0"/>
              <a:t>	~</a:t>
            </a:r>
            <a:r>
              <a:rPr lang="ko-KR" altLang="en-US" sz="1200" dirty="0"/>
              <a:t>연산은 비트를 </a:t>
            </a:r>
            <a:r>
              <a:rPr lang="en-US" altLang="ko-KR" sz="1200" dirty="0"/>
              <a:t>0</a:t>
            </a:r>
            <a:r>
              <a:rPr lang="ko-KR" altLang="en-US" sz="1200" dirty="0"/>
              <a:t>에서 </a:t>
            </a:r>
            <a:r>
              <a:rPr lang="en-US" altLang="ko-KR" sz="1200" dirty="0"/>
              <a:t>1</a:t>
            </a:r>
            <a:r>
              <a:rPr lang="ko-KR" altLang="en-US" sz="1200" dirty="0"/>
              <a:t>로</a:t>
            </a:r>
            <a:r>
              <a:rPr lang="en-US" altLang="ko-KR" sz="1200" dirty="0"/>
              <a:t>, 1</a:t>
            </a:r>
            <a:r>
              <a:rPr lang="ko-KR" altLang="en-US" sz="1200" dirty="0"/>
              <a:t>에서 </a:t>
            </a:r>
            <a:r>
              <a:rPr lang="en-US" altLang="ko-KR" sz="1200" dirty="0"/>
              <a:t>0</a:t>
            </a:r>
            <a:r>
              <a:rPr lang="ko-KR" altLang="en-US" sz="1200" dirty="0"/>
              <a:t>으로 반전시키기 때문에 </a:t>
            </a:r>
            <a:r>
              <a:rPr lang="ko-KR" altLang="en-US" sz="1200" dirty="0" err="1"/>
              <a:t>보수연산이라고도</a:t>
            </a:r>
            <a:r>
              <a:rPr lang="ko-KR" altLang="en-US" sz="1200" dirty="0"/>
              <a:t> 불린다</a:t>
            </a:r>
            <a:r>
              <a:rPr lang="en-US" altLang="ko-KR" sz="1200" dirty="0"/>
              <a:t>.</a:t>
            </a:r>
          </a:p>
          <a:p>
            <a:pPr marL="0" indent="0">
              <a:buNone/>
            </a:pPr>
            <a:r>
              <a:rPr lang="en-US" altLang="ko-KR" sz="1200" dirty="0"/>
              <a:t>&gt;&gt;:</a:t>
            </a:r>
            <a:r>
              <a:rPr lang="ko-KR" altLang="en-US" sz="1200" dirty="0"/>
              <a:t>피연산자의 비트 열을 오른쪽으로 이동시킨다</a:t>
            </a:r>
            <a:r>
              <a:rPr lang="en-US" altLang="ko-KR" sz="1200" dirty="0"/>
              <a:t>.</a:t>
            </a:r>
          </a:p>
          <a:p>
            <a:pPr marL="0" indent="0">
              <a:buNone/>
            </a:pPr>
            <a:r>
              <a:rPr lang="ko-KR" altLang="en-US" sz="1500" dirty="0"/>
              <a:t>결합방향</a:t>
            </a:r>
            <a:r>
              <a:rPr lang="en-US" altLang="ko-KR" sz="1500" dirty="0"/>
              <a:t>(</a:t>
            </a:r>
            <a:r>
              <a:rPr lang="en-US" altLang="ko-KR" sz="1500" dirty="0">
                <a:sym typeface="Wingdings" panose="05000000000000000000" pitchFamily="2" charset="2"/>
              </a:rPr>
              <a:t></a:t>
            </a:r>
            <a:r>
              <a:rPr lang="en-US" altLang="ko-KR" sz="1500" dirty="0"/>
              <a:t>)</a:t>
            </a:r>
          </a:p>
          <a:p>
            <a:pPr marL="0" indent="0">
              <a:buNone/>
            </a:pPr>
            <a:r>
              <a:rPr lang="en-US" altLang="ko-KR" sz="1200" dirty="0"/>
              <a:t>&lt;&lt;: </a:t>
            </a:r>
            <a:r>
              <a:rPr lang="ko-KR" altLang="en-US" sz="1200" dirty="0"/>
              <a:t>피연산자의 비트 열을 왼쪽으로 이동시킨다</a:t>
            </a:r>
            <a:r>
              <a:rPr lang="en-US" altLang="ko-KR" sz="1200" dirty="0"/>
              <a:t>.</a:t>
            </a:r>
          </a:p>
          <a:p>
            <a:pPr marL="0" indent="0">
              <a:buNone/>
            </a:pPr>
            <a:r>
              <a:rPr lang="en-US" altLang="ko-KR" sz="1200" dirty="0"/>
              <a:t>	1) Num1&lt;&lt;num2 = num1</a:t>
            </a:r>
            <a:r>
              <a:rPr lang="ko-KR" altLang="en-US" sz="1200" dirty="0"/>
              <a:t>의 비트 열을 </a:t>
            </a:r>
            <a:r>
              <a:rPr lang="en-US" altLang="ko-KR" sz="1200" dirty="0"/>
              <a:t>num2</a:t>
            </a:r>
            <a:r>
              <a:rPr lang="ko-KR" altLang="en-US" sz="1200" dirty="0" err="1"/>
              <a:t>칸씩</a:t>
            </a:r>
            <a:r>
              <a:rPr lang="ko-KR" altLang="en-US" sz="1200" dirty="0"/>
              <a:t> 왼쪽으로 이동시킨 결과를 반환</a:t>
            </a:r>
          </a:p>
          <a:p>
            <a:pPr marL="0" indent="0">
              <a:buNone/>
            </a:pPr>
            <a:r>
              <a:rPr lang="ko-KR" altLang="en-US" sz="1200" dirty="0"/>
              <a:t>	</a:t>
            </a:r>
            <a:r>
              <a:rPr lang="en-US" altLang="ko-KR" sz="1200" dirty="0"/>
              <a:t>2) 8&lt;&lt;2 = </a:t>
            </a:r>
            <a:r>
              <a:rPr lang="ko-KR" altLang="en-US" sz="1200" dirty="0"/>
              <a:t>정수 </a:t>
            </a:r>
            <a:r>
              <a:rPr lang="en-US" altLang="ko-KR" sz="1200" dirty="0"/>
              <a:t>8</a:t>
            </a:r>
            <a:r>
              <a:rPr lang="ko-KR" altLang="en-US" sz="1200" dirty="0"/>
              <a:t>의 비트 열을 </a:t>
            </a:r>
            <a:r>
              <a:rPr lang="en-US" altLang="ko-KR" sz="1200" dirty="0"/>
              <a:t>2</a:t>
            </a:r>
            <a:r>
              <a:rPr lang="ko-KR" altLang="en-US" sz="1200" dirty="0" err="1"/>
              <a:t>칸씩</a:t>
            </a:r>
            <a:r>
              <a:rPr lang="ko-KR" altLang="en-US" sz="1200" dirty="0"/>
              <a:t> 왼쪽으로 이동시킨 결과를 반환</a:t>
            </a:r>
          </a:p>
          <a:p>
            <a:pPr marL="0" indent="0">
              <a:buNone/>
            </a:pPr>
            <a:endParaRPr lang="en-US" altLang="ko-KR" sz="1500" dirty="0"/>
          </a:p>
          <a:p>
            <a:pPr marL="0" indent="0"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195552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BE3A5E-85B6-F3E3-207A-609B12BC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55086" cy="483961"/>
          </a:xfrm>
        </p:spPr>
        <p:txBody>
          <a:bodyPr>
            <a:normAutofit fontScale="90000"/>
          </a:bodyPr>
          <a:lstStyle/>
          <a:p>
            <a:r>
              <a:rPr lang="en-US" altLang="ko-KR" sz="3800" dirty="0"/>
              <a:t>4</a:t>
            </a:r>
            <a:r>
              <a:rPr lang="ko-KR" altLang="en-US" sz="3800" dirty="0"/>
              <a:t>장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CD76D5-EA13-3054-9F6D-3E813BB7A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340" y="1150883"/>
            <a:ext cx="10755086" cy="5033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500" dirty="0"/>
              <a:t>2</a:t>
            </a:r>
            <a:r>
              <a:rPr lang="ko-KR" altLang="en-US" sz="1500" dirty="0"/>
              <a:t>진수</a:t>
            </a:r>
            <a:r>
              <a:rPr lang="en-US" altLang="ko-KR" sz="1500" dirty="0"/>
              <a:t>: 2</a:t>
            </a:r>
            <a:r>
              <a:rPr lang="ko-KR" altLang="en-US" sz="1500" dirty="0"/>
              <a:t>개의 기호를 이용하여 데이터를 표현한 방식</a:t>
            </a:r>
            <a:r>
              <a:rPr lang="en-US" altLang="ko-KR" sz="1500" dirty="0"/>
              <a:t>(0</a:t>
            </a:r>
            <a:r>
              <a:rPr lang="ko-KR" altLang="en-US" sz="1500" dirty="0"/>
              <a:t>과 </a:t>
            </a:r>
            <a:r>
              <a:rPr lang="en-US" altLang="ko-KR" sz="1500" dirty="0"/>
              <a:t>1</a:t>
            </a:r>
            <a:r>
              <a:rPr lang="ko-KR" altLang="en-US" sz="1500" dirty="0"/>
              <a:t>로 표현</a:t>
            </a:r>
            <a:r>
              <a:rPr lang="en-US" altLang="ko-KR" sz="1500" dirty="0"/>
              <a:t>)</a:t>
            </a:r>
          </a:p>
          <a:p>
            <a:pPr marL="0" indent="0">
              <a:buNone/>
            </a:pPr>
            <a:r>
              <a:rPr lang="ko-KR" altLang="en-US" sz="1500" dirty="0"/>
              <a:t>비트</a:t>
            </a:r>
            <a:r>
              <a:rPr lang="en-US" altLang="ko-KR" sz="1500" dirty="0"/>
              <a:t>(bit): </a:t>
            </a:r>
            <a:r>
              <a:rPr lang="ko-KR" altLang="en-US" sz="1500" dirty="0"/>
              <a:t>컴퓨터가 표현하는 데이터의 최소단위</a:t>
            </a:r>
            <a:r>
              <a:rPr lang="en-US" altLang="ko-KR" sz="1500" dirty="0"/>
              <a:t>, 2</a:t>
            </a:r>
            <a:r>
              <a:rPr lang="ko-KR" altLang="en-US" sz="1500" dirty="0"/>
              <a:t>진수 값 하나를 저장할 수 메모리를 뜻하는 단위</a:t>
            </a:r>
            <a:r>
              <a:rPr lang="en-US" altLang="ko-KR" sz="1500" dirty="0"/>
              <a:t>.  ----- </a:t>
            </a:r>
            <a:r>
              <a:rPr lang="ko-KR" altLang="en-US" sz="1500" dirty="0"/>
              <a:t>바이트</a:t>
            </a:r>
            <a:r>
              <a:rPr lang="en-US" altLang="ko-KR" sz="1500" dirty="0"/>
              <a:t>(byte) </a:t>
            </a:r>
            <a:r>
              <a:rPr lang="ko-KR" altLang="en-US" sz="1500" dirty="0"/>
              <a:t>비트를 </a:t>
            </a:r>
            <a:r>
              <a:rPr lang="en-US" altLang="ko-KR" sz="1500" dirty="0"/>
              <a:t>8</a:t>
            </a:r>
            <a:r>
              <a:rPr lang="ko-KR" altLang="en-US" sz="1500" dirty="0"/>
              <a:t>개 묶은 것</a:t>
            </a:r>
            <a:endParaRPr lang="en-US" altLang="ko-KR" sz="1500" dirty="0"/>
          </a:p>
          <a:p>
            <a:pPr marL="0" indent="0">
              <a:buNone/>
            </a:pPr>
            <a:r>
              <a:rPr lang="ko-KR" altLang="en-US" sz="1500" dirty="0"/>
              <a:t>정수의 표현방식</a:t>
            </a:r>
            <a:r>
              <a:rPr lang="en-US" altLang="ko-KR" sz="1500" dirty="0"/>
              <a:t>: 1</a:t>
            </a:r>
            <a:r>
              <a:rPr lang="ko-KR" altLang="en-US" sz="1500" dirty="0"/>
              <a:t>바이트의 메모리 공간에 가장 왼쪽 비트는 부호비트</a:t>
            </a:r>
            <a:r>
              <a:rPr lang="en-US" altLang="ko-KR" sz="1500" dirty="0"/>
              <a:t>( +</a:t>
            </a:r>
            <a:r>
              <a:rPr lang="ko-KR" altLang="en-US" sz="1500" dirty="0"/>
              <a:t>면 </a:t>
            </a:r>
            <a:r>
              <a:rPr lang="en-US" altLang="ko-KR" sz="1500" dirty="0"/>
              <a:t>0, -</a:t>
            </a:r>
            <a:r>
              <a:rPr lang="ko-KR" altLang="en-US" sz="1500" dirty="0"/>
              <a:t>면 </a:t>
            </a:r>
            <a:r>
              <a:rPr lang="en-US" altLang="ko-KR" sz="1500" dirty="0"/>
              <a:t>1)</a:t>
            </a:r>
          </a:p>
          <a:p>
            <a:pPr marL="0" indent="0">
              <a:buNone/>
            </a:pPr>
            <a:r>
              <a:rPr lang="en-US" altLang="ko-KR" sz="1500" dirty="0"/>
              <a:t>- </a:t>
            </a:r>
            <a:r>
              <a:rPr lang="ko-KR" altLang="en-US" sz="1500" dirty="0"/>
              <a:t>정수</a:t>
            </a:r>
            <a:r>
              <a:rPr lang="en-US" altLang="ko-KR" sz="1500" dirty="0"/>
              <a:t>(+5): 00000101</a:t>
            </a:r>
            <a:r>
              <a:rPr lang="ko-KR" altLang="en-US" sz="1500" dirty="0"/>
              <a:t>으로 표시</a:t>
            </a:r>
            <a:endParaRPr lang="en-US" altLang="ko-KR" sz="1500" dirty="0"/>
          </a:p>
          <a:p>
            <a:pPr marL="0" indent="0">
              <a:buNone/>
            </a:pPr>
            <a:r>
              <a:rPr lang="en-US" altLang="ko-KR" sz="1500" dirty="0"/>
              <a:t>- </a:t>
            </a:r>
            <a:r>
              <a:rPr lang="ko-KR" altLang="en-US" sz="1500" dirty="0"/>
              <a:t>정수</a:t>
            </a:r>
            <a:r>
              <a:rPr lang="en-US" altLang="ko-KR" sz="1500" dirty="0"/>
              <a:t>(-5): </a:t>
            </a:r>
            <a:r>
              <a:rPr lang="ko-KR" altLang="en-US" sz="1500" dirty="0"/>
              <a:t>정수</a:t>
            </a:r>
            <a:r>
              <a:rPr lang="en-US" altLang="ko-KR" sz="1500" dirty="0"/>
              <a:t>(+5)</a:t>
            </a:r>
            <a:r>
              <a:rPr lang="ko-KR" altLang="en-US" sz="1500" dirty="0"/>
              <a:t>에서 각 비트 별로 </a:t>
            </a:r>
            <a:r>
              <a:rPr lang="en-US" altLang="ko-KR" sz="1500" dirty="0"/>
              <a:t>1</a:t>
            </a:r>
            <a:r>
              <a:rPr lang="ko-KR" altLang="en-US" sz="1500" dirty="0"/>
              <a:t>의 보수를 취하고 나서 </a:t>
            </a:r>
            <a:r>
              <a:rPr lang="en-US" altLang="ko-KR" sz="1500" dirty="0"/>
              <a:t>1</a:t>
            </a:r>
            <a:r>
              <a:rPr lang="ko-KR" altLang="en-US" sz="1500" dirty="0"/>
              <a:t>을 더한다</a:t>
            </a:r>
            <a:r>
              <a:rPr lang="en-US" altLang="ko-KR" sz="1500" dirty="0"/>
              <a:t> </a:t>
            </a:r>
            <a:r>
              <a:rPr lang="en-US" altLang="ko-KR" sz="1500" dirty="0">
                <a:sym typeface="Wingdings" panose="05000000000000000000" pitchFamily="2" charset="2"/>
              </a:rPr>
              <a:t> 11111011(2</a:t>
            </a:r>
            <a:r>
              <a:rPr lang="ko-KR" altLang="en-US" sz="1500" dirty="0">
                <a:sym typeface="Wingdings" panose="05000000000000000000" pitchFamily="2" charset="2"/>
              </a:rPr>
              <a:t>의 </a:t>
            </a:r>
            <a:r>
              <a:rPr lang="ko-KR" altLang="en-US" sz="1500" dirty="0" err="1">
                <a:sym typeface="Wingdings" panose="05000000000000000000" pitchFamily="2" charset="2"/>
              </a:rPr>
              <a:t>보수법</a:t>
            </a:r>
            <a:r>
              <a:rPr lang="en-US" altLang="ko-KR" sz="1500" dirty="0"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r>
              <a:rPr lang="ko-KR" altLang="en-US" sz="1500" dirty="0">
                <a:sym typeface="Wingdings" panose="05000000000000000000" pitchFamily="2" charset="2"/>
              </a:rPr>
              <a:t>실수의 표현방식</a:t>
            </a:r>
            <a:endParaRPr lang="en-US" altLang="ko-KR" sz="1500" dirty="0"/>
          </a:p>
          <a:p>
            <a:pPr marL="0" indent="0">
              <a:buNone/>
            </a:pPr>
            <a:endParaRPr lang="en-US" altLang="ko-KR" sz="2000" dirty="0"/>
          </a:p>
        </p:txBody>
      </p:sp>
      <p:pic>
        <p:nvPicPr>
          <p:cNvPr id="5" name="그림 4" descr="텍스트, 폰트, 번호, 스크린샷이(가) 표시된 사진&#10;&#10;자동 생성된 설명">
            <a:extLst>
              <a:ext uri="{FF2B5EF4-FFF2-40B4-BE49-F238E27FC236}">
                <a16:creationId xmlns:a16="http://schemas.microsoft.com/office/drawing/2014/main" id="{E3A69157-624C-5A43-5C9F-F98F06546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5250730" cy="229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193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BE3A5E-85B6-F3E3-207A-609B12BC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55086" cy="483961"/>
          </a:xfrm>
        </p:spPr>
        <p:txBody>
          <a:bodyPr>
            <a:normAutofit fontScale="90000"/>
          </a:bodyPr>
          <a:lstStyle/>
          <a:p>
            <a:r>
              <a:rPr lang="en-US" altLang="ko-KR" sz="3800" dirty="0"/>
              <a:t>5</a:t>
            </a:r>
            <a:r>
              <a:rPr lang="ko-KR" altLang="en-US" sz="3800" dirty="0"/>
              <a:t>장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CD76D5-EA13-3054-9F6D-3E813BB7A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0" y="1291332"/>
            <a:ext cx="5369660" cy="5033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unsigned</a:t>
            </a:r>
          </a:p>
          <a:p>
            <a:pPr marL="0" indent="0">
              <a:buNone/>
            </a:pPr>
            <a:r>
              <a:rPr lang="en-US" altLang="ko-KR" sz="2000" dirty="0"/>
              <a:t>-</a:t>
            </a:r>
            <a:r>
              <a:rPr lang="ko-KR" altLang="en-US" sz="2000" dirty="0"/>
              <a:t>정수 자료형의 이름 앞에만 붙일 수 있다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-0</a:t>
            </a:r>
            <a:r>
              <a:rPr lang="ko-KR" altLang="en-US" sz="2000" dirty="0"/>
              <a:t>과 양의 정수만 표현하게 할 수 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아스키 코드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Int main(void)</a:t>
            </a:r>
          </a:p>
          <a:p>
            <a:pPr marL="0" indent="0">
              <a:buNone/>
            </a:pPr>
            <a:r>
              <a:rPr lang="en-US" altLang="ko-KR" sz="2000" dirty="0"/>
              <a:t>{</a:t>
            </a:r>
          </a:p>
          <a:p>
            <a:pPr marL="0" indent="0">
              <a:buNone/>
            </a:pPr>
            <a:r>
              <a:rPr lang="en-US" altLang="ko-KR" sz="2000" dirty="0"/>
              <a:t>	char ch1 =‘A’;       </a:t>
            </a:r>
            <a:r>
              <a:rPr lang="en-US" altLang="ko-KR" sz="2000" dirty="0">
                <a:sym typeface="Wingdings" panose="05000000000000000000" pitchFamily="2" charset="2"/>
              </a:rPr>
              <a:t> char ch1 = 65;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	char ch2 =‘C’;      </a:t>
            </a:r>
            <a:r>
              <a:rPr lang="en-US" altLang="ko-KR" sz="2000" dirty="0">
                <a:sym typeface="Wingdings" panose="05000000000000000000" pitchFamily="2" charset="2"/>
              </a:rPr>
              <a:t> char ch2 = 67;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}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CFA41B5-329A-7921-74BC-7E30767A9A49}"/>
              </a:ext>
            </a:extLst>
          </p:cNvPr>
          <p:cNvSpPr txBox="1">
            <a:spLocks/>
          </p:cNvSpPr>
          <p:nvPr/>
        </p:nvSpPr>
        <p:spPr>
          <a:xfrm>
            <a:off x="878740" y="1291333"/>
            <a:ext cx="5369660" cy="5033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500" dirty="0"/>
              <a:t>기존 자료형의 종류와 데이터의 표현범위</a:t>
            </a:r>
            <a:endParaRPr lang="en-US" altLang="ko-KR" sz="15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5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5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5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5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5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5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5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500" dirty="0"/>
              <a:t>연산자 </a:t>
            </a:r>
            <a:r>
              <a:rPr lang="en-US" altLang="ko-KR" sz="1500" dirty="0" err="1"/>
              <a:t>sizeof</a:t>
            </a:r>
            <a:endParaRPr lang="en-US" altLang="ko-KR" sz="15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500" dirty="0"/>
              <a:t>Int main(void)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500" dirty="0"/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500" dirty="0"/>
              <a:t>	Int num = 10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500" dirty="0"/>
              <a:t>	int sz1 = </a:t>
            </a:r>
            <a:r>
              <a:rPr lang="en-US" altLang="ko-KR" sz="1500" dirty="0" err="1"/>
              <a:t>sizeof</a:t>
            </a:r>
            <a:r>
              <a:rPr lang="en-US" altLang="ko-KR" sz="1500" dirty="0"/>
              <a:t>(num);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500" dirty="0"/>
              <a:t>	int sz2 = </a:t>
            </a:r>
            <a:r>
              <a:rPr lang="en-US" altLang="ko-KR" sz="1500" dirty="0" err="1"/>
              <a:t>sizeof</a:t>
            </a:r>
            <a:r>
              <a:rPr lang="en-US" altLang="ko-KR" sz="1500" dirty="0"/>
              <a:t>(int);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500" dirty="0"/>
              <a:t>}</a:t>
            </a:r>
          </a:p>
        </p:txBody>
      </p:sp>
      <p:pic>
        <p:nvPicPr>
          <p:cNvPr id="6" name="그림 5" descr="텍스트, 번호, 스크린샷, 메뉴이(가) 표시된 사진&#10;&#10;자동 생성된 설명">
            <a:extLst>
              <a:ext uri="{FF2B5EF4-FFF2-40B4-BE49-F238E27FC236}">
                <a16:creationId xmlns:a16="http://schemas.microsoft.com/office/drawing/2014/main" id="{F563C3A7-DB4A-88CD-FE83-CB774DD721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40" y="1603361"/>
            <a:ext cx="4571999" cy="211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519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BE3A5E-85B6-F3E3-207A-609B12BC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55086" cy="483961"/>
          </a:xfrm>
        </p:spPr>
        <p:txBody>
          <a:bodyPr>
            <a:normAutofit fontScale="90000"/>
          </a:bodyPr>
          <a:lstStyle/>
          <a:p>
            <a:r>
              <a:rPr lang="en-US" altLang="ko-KR" sz="3800" dirty="0"/>
              <a:t>5</a:t>
            </a:r>
            <a:r>
              <a:rPr lang="ko-KR" altLang="en-US" sz="3800" dirty="0"/>
              <a:t>장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CD76D5-EA13-3054-9F6D-3E813BB7A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0" y="1291332"/>
            <a:ext cx="5551118" cy="5033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500" dirty="0"/>
              <a:t>자료형의 변환</a:t>
            </a:r>
            <a:r>
              <a:rPr lang="en-US" altLang="ko-KR" sz="1500" dirty="0"/>
              <a:t>: </a:t>
            </a:r>
            <a:r>
              <a:rPr lang="ko-KR" altLang="en-US" sz="1500" dirty="0"/>
              <a:t>데이터를 표현방식을 바꾸는 것</a:t>
            </a:r>
            <a:endParaRPr lang="en-US" altLang="ko-KR" sz="1500" dirty="0"/>
          </a:p>
          <a:p>
            <a:pPr marL="0" indent="0">
              <a:buNone/>
            </a:pPr>
            <a:r>
              <a:rPr lang="en-US" altLang="ko-KR" sz="1500" dirty="0"/>
              <a:t>-</a:t>
            </a:r>
            <a:r>
              <a:rPr lang="ko-KR" altLang="en-US" sz="1500" dirty="0"/>
              <a:t>자동 형 변환</a:t>
            </a:r>
            <a:r>
              <a:rPr lang="en-US" altLang="ko-KR" sz="1500" dirty="0"/>
              <a:t>, </a:t>
            </a:r>
            <a:r>
              <a:rPr lang="ko-KR" altLang="en-US" sz="1500" dirty="0"/>
              <a:t>강제 형 변환</a:t>
            </a:r>
            <a:endParaRPr lang="en-US" altLang="ko-KR" sz="1500" dirty="0"/>
          </a:p>
          <a:p>
            <a:pPr marL="0" indent="0">
              <a:buNone/>
            </a:pPr>
            <a:r>
              <a:rPr lang="ko-KR" altLang="en-US" sz="1600" dirty="0"/>
              <a:t>대입연산의 전달과정에서 발생하는 자동 형 변환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500" dirty="0"/>
              <a:t>   int num1=24.21;  // double</a:t>
            </a:r>
            <a:r>
              <a:rPr lang="ko-KR" altLang="en-US" sz="1500" dirty="0"/>
              <a:t>형</a:t>
            </a:r>
            <a:r>
              <a:rPr lang="en-US" altLang="ko-KR" sz="1500" dirty="0"/>
              <a:t> </a:t>
            </a:r>
            <a:r>
              <a:rPr lang="ko-KR" altLang="en-US" sz="1500" dirty="0"/>
              <a:t>정수</a:t>
            </a:r>
            <a:r>
              <a:rPr lang="en-US" altLang="ko-KR" sz="1500" dirty="0"/>
              <a:t> 24.21 </a:t>
            </a:r>
            <a:r>
              <a:rPr lang="en-US" altLang="ko-KR" sz="1500" dirty="0">
                <a:sym typeface="Wingdings" panose="05000000000000000000" pitchFamily="2" charset="2"/>
              </a:rPr>
              <a:t> int</a:t>
            </a:r>
            <a:r>
              <a:rPr lang="ko-KR" altLang="en-US" sz="1500" dirty="0">
                <a:sym typeface="Wingdings" panose="05000000000000000000" pitchFamily="2" charset="2"/>
              </a:rPr>
              <a:t>형</a:t>
            </a:r>
            <a:endParaRPr lang="en-US" altLang="ko-KR" sz="1500" dirty="0"/>
          </a:p>
          <a:p>
            <a:pPr marL="0" indent="0">
              <a:buNone/>
            </a:pPr>
            <a:r>
              <a:rPr lang="en-US" altLang="ko-KR" sz="1500" dirty="0"/>
              <a:t>   int num3=129;</a:t>
            </a:r>
          </a:p>
          <a:p>
            <a:pPr marL="0" indent="0">
              <a:buNone/>
            </a:pPr>
            <a:r>
              <a:rPr lang="en-US" altLang="ko-KR" sz="1500" dirty="0"/>
              <a:t>   char </a:t>
            </a:r>
            <a:r>
              <a:rPr lang="en-US" altLang="ko-KR" sz="1500" dirty="0" err="1"/>
              <a:t>ch</a:t>
            </a:r>
            <a:r>
              <a:rPr lang="en-US" altLang="ko-KR" sz="1500" dirty="0"/>
              <a:t>=num3;    //int</a:t>
            </a:r>
            <a:r>
              <a:rPr lang="ko-KR" altLang="en-US" sz="1500" dirty="0"/>
              <a:t>형 변수</a:t>
            </a:r>
            <a:r>
              <a:rPr lang="en-US" altLang="ko-KR" sz="1500" dirty="0"/>
              <a:t>num3</a:t>
            </a:r>
            <a:r>
              <a:rPr lang="ko-KR" altLang="en-US" sz="1500" dirty="0"/>
              <a:t>에 저장된 값 </a:t>
            </a:r>
            <a:r>
              <a:rPr lang="en-US" altLang="ko-KR" sz="1500" dirty="0">
                <a:sym typeface="Wingdings" panose="05000000000000000000" pitchFamily="2" charset="2"/>
              </a:rPr>
              <a:t> char</a:t>
            </a:r>
            <a:r>
              <a:rPr lang="ko-KR" altLang="en-US" sz="1500" dirty="0">
                <a:sym typeface="Wingdings" panose="05000000000000000000" pitchFamily="2" charset="2"/>
              </a:rPr>
              <a:t>형</a:t>
            </a:r>
            <a:endParaRPr lang="en-US" altLang="ko-KR" sz="15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600" dirty="0">
                <a:sym typeface="Wingdings" panose="05000000000000000000" pitchFamily="2" charset="2"/>
              </a:rPr>
              <a:t>정수의 승격에 의한 자동 형 변환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500" dirty="0"/>
              <a:t>   short num1=15, num2=25;</a:t>
            </a:r>
          </a:p>
          <a:p>
            <a:pPr marL="0" indent="0">
              <a:buNone/>
            </a:pPr>
            <a:r>
              <a:rPr lang="en-US" altLang="ko-KR" sz="1500" dirty="0"/>
              <a:t>   short num3=num1+num2;  //num1,</a:t>
            </a:r>
            <a:r>
              <a:rPr lang="ko-KR" altLang="en-US" sz="1500" dirty="0"/>
              <a:t> </a:t>
            </a:r>
            <a:r>
              <a:rPr lang="en-US" altLang="ko-KR" sz="1500" dirty="0"/>
              <a:t>num2 </a:t>
            </a:r>
            <a:r>
              <a:rPr lang="en-US" altLang="ko-KR" sz="1500" dirty="0">
                <a:sym typeface="Wingdings" panose="05000000000000000000" pitchFamily="2" charset="2"/>
              </a:rPr>
              <a:t> int</a:t>
            </a:r>
            <a:r>
              <a:rPr lang="ko-KR" altLang="en-US" sz="1500" dirty="0">
                <a:sym typeface="Wingdings" panose="05000000000000000000" pitchFamily="2" charset="2"/>
              </a:rPr>
              <a:t>형</a:t>
            </a:r>
            <a:endParaRPr lang="en-US" altLang="ko-KR" sz="15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500" dirty="0">
                <a:sym typeface="Wingdings" panose="05000000000000000000" pitchFamily="2" charset="2"/>
              </a:rPr>
              <a:t>피연산자의 자료형 불 일치로 발생하는 자동 형 변환</a:t>
            </a:r>
            <a:endParaRPr lang="en-US" altLang="ko-KR" sz="15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500" dirty="0">
                <a:sym typeface="Wingdings" panose="05000000000000000000" pitchFamily="2" charset="2"/>
              </a:rPr>
              <a:t>   double num1 = 5.15 + 19;</a:t>
            </a:r>
          </a:p>
          <a:p>
            <a:pPr marL="0" indent="0">
              <a:buNone/>
            </a:pPr>
            <a:r>
              <a:rPr lang="en-US" altLang="ko-KR" sz="1500" dirty="0" err="1">
                <a:sym typeface="Wingdings" panose="05000000000000000000" pitchFamily="2" charset="2"/>
              </a:rPr>
              <a:t>intlonglong</a:t>
            </a:r>
            <a:r>
              <a:rPr lang="en-US" altLang="ko-KR" sz="1500" dirty="0">
                <a:sym typeface="Wingdings" panose="05000000000000000000" pitchFamily="2" charset="2"/>
              </a:rPr>
              <a:t> </a:t>
            </a:r>
            <a:r>
              <a:rPr lang="en-US" altLang="ko-KR" sz="1500" dirty="0" err="1">
                <a:sym typeface="Wingdings" panose="05000000000000000000" pitchFamily="2" charset="2"/>
              </a:rPr>
              <a:t>longfloatdoublelong</a:t>
            </a:r>
            <a:r>
              <a:rPr lang="en-US" altLang="ko-KR" sz="1500" dirty="0">
                <a:sym typeface="Wingdings" panose="05000000000000000000" pitchFamily="2" charset="2"/>
              </a:rPr>
              <a:t> double</a:t>
            </a:r>
          </a:p>
          <a:p>
            <a:pPr marL="0" indent="0">
              <a:buNone/>
            </a:pPr>
            <a:r>
              <a:rPr lang="ko-KR" altLang="en-US" sz="1600" dirty="0">
                <a:sym typeface="Wingdings" panose="05000000000000000000" pitchFamily="2" charset="2"/>
              </a:rPr>
              <a:t>명시적</a:t>
            </a:r>
            <a:r>
              <a:rPr lang="en-US" altLang="ko-KR" sz="1600" dirty="0"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sym typeface="Wingdings" panose="05000000000000000000" pitchFamily="2" charset="2"/>
              </a:rPr>
              <a:t>형 변환</a:t>
            </a:r>
            <a:r>
              <a:rPr lang="en-US" altLang="ko-KR" sz="1600" dirty="0">
                <a:sym typeface="Wingdings" panose="05000000000000000000" pitchFamily="2" charset="2"/>
              </a:rPr>
              <a:t>: </a:t>
            </a:r>
            <a:r>
              <a:rPr lang="ko-KR" altLang="en-US" sz="1600" dirty="0">
                <a:sym typeface="Wingdings" panose="05000000000000000000" pitchFamily="2" charset="2"/>
              </a:rPr>
              <a:t>강제로 일으키는 형 변환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500" dirty="0" err="1">
                <a:sym typeface="Wingdings" panose="05000000000000000000" pitchFamily="2" charset="2"/>
              </a:rPr>
              <a:t>divResult</a:t>
            </a:r>
            <a:r>
              <a:rPr lang="en-US" altLang="ko-KR" sz="1500" dirty="0">
                <a:sym typeface="Wingdings" panose="05000000000000000000" pitchFamily="2" charset="2"/>
              </a:rPr>
              <a:t> = (double)num1 / num2;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CFA41B5-329A-7921-74BC-7E30767A9A49}"/>
              </a:ext>
            </a:extLst>
          </p:cNvPr>
          <p:cNvSpPr txBox="1">
            <a:spLocks/>
          </p:cNvSpPr>
          <p:nvPr/>
        </p:nvSpPr>
        <p:spPr>
          <a:xfrm>
            <a:off x="878740" y="1291333"/>
            <a:ext cx="5369660" cy="5033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500" dirty="0"/>
              <a:t>상수</a:t>
            </a:r>
            <a:r>
              <a:rPr lang="en-US" altLang="ko-KR" sz="1500" dirty="0"/>
              <a:t>: </a:t>
            </a:r>
            <a:r>
              <a:rPr lang="ko-KR" altLang="en-US" sz="1500" dirty="0"/>
              <a:t>변경이 불가능한 데이터</a:t>
            </a:r>
            <a:endParaRPr lang="en-US" altLang="ko-KR" sz="15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500" dirty="0"/>
              <a:t>Int main(void)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500" dirty="0"/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500" dirty="0"/>
              <a:t>	int </a:t>
            </a:r>
            <a:r>
              <a:rPr lang="en-US" altLang="ko-KR" sz="1500" dirty="0" err="1"/>
              <a:t>inum</a:t>
            </a:r>
            <a:r>
              <a:rPr lang="en-US" altLang="ko-KR" sz="1500" dirty="0"/>
              <a:t> = 3;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500" dirty="0"/>
              <a:t>	double </a:t>
            </a:r>
            <a:r>
              <a:rPr lang="en-US" altLang="ko-KR" sz="1500" dirty="0" err="1"/>
              <a:t>dnum</a:t>
            </a:r>
            <a:r>
              <a:rPr lang="en-US" altLang="ko-KR" sz="1500" dirty="0"/>
              <a:t> = 7.34;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500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500" dirty="0" err="1"/>
              <a:t>리터럴</a:t>
            </a:r>
            <a:r>
              <a:rPr lang="ko-KR" altLang="en-US" sz="1500" dirty="0"/>
              <a:t> 상수</a:t>
            </a:r>
            <a:r>
              <a:rPr lang="en-US" altLang="ko-KR" sz="1500" dirty="0"/>
              <a:t>: </a:t>
            </a:r>
            <a:r>
              <a:rPr lang="ko-KR" altLang="en-US" sz="1500" dirty="0"/>
              <a:t>이름이 없는 상수</a:t>
            </a:r>
            <a:endParaRPr lang="en-US" altLang="ko-KR" sz="15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500" dirty="0"/>
              <a:t>접미사를 이용한</a:t>
            </a:r>
            <a:endParaRPr lang="en-US" altLang="ko-KR" sz="15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5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5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5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5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5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5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500" dirty="0" err="1"/>
              <a:t>심볼릭</a:t>
            </a:r>
            <a:r>
              <a:rPr lang="en-US" altLang="ko-KR" sz="1500" dirty="0"/>
              <a:t> </a:t>
            </a:r>
            <a:r>
              <a:rPr lang="ko-KR" altLang="en-US" sz="1500" dirty="0"/>
              <a:t>상수</a:t>
            </a:r>
            <a:r>
              <a:rPr lang="en-US" altLang="ko-KR" sz="1500" dirty="0"/>
              <a:t>: const </a:t>
            </a:r>
            <a:r>
              <a:rPr lang="ko-KR" altLang="en-US" sz="1500" dirty="0"/>
              <a:t>상수</a:t>
            </a:r>
            <a:r>
              <a:rPr lang="en-US" altLang="ko-KR" sz="1500" dirty="0"/>
              <a:t>(</a:t>
            </a:r>
            <a:r>
              <a:rPr lang="ko-KR" altLang="en-US" sz="1500" dirty="0"/>
              <a:t>이름을 지니는 상수</a:t>
            </a:r>
            <a:r>
              <a:rPr lang="en-US" altLang="ko-KR" sz="1500"/>
              <a:t>)</a:t>
            </a:r>
            <a:endParaRPr lang="en-US" altLang="ko-KR" sz="1500" dirty="0"/>
          </a:p>
        </p:txBody>
      </p:sp>
      <p:pic>
        <p:nvPicPr>
          <p:cNvPr id="9" name="그림 8" descr="텍스트, 번호, 폰트, 문서이(가) 표시된 사진&#10;&#10;자동 생성된 설명">
            <a:extLst>
              <a:ext uri="{FF2B5EF4-FFF2-40B4-BE49-F238E27FC236}">
                <a16:creationId xmlns:a16="http://schemas.microsoft.com/office/drawing/2014/main" id="{CB2B6AA4-C93D-1D05-CE16-47F0E88F7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41" y="3993560"/>
            <a:ext cx="2854015" cy="154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772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1347</TotalTime>
  <Words>848</Words>
  <Application>Microsoft Office PowerPoint</Application>
  <PresentationFormat>와이드스크린</PresentationFormat>
  <Paragraphs>130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ICNET 스터디</vt:lpstr>
      <vt:lpstr>1장 c언어</vt:lpstr>
      <vt:lpstr>2장 함수</vt:lpstr>
      <vt:lpstr>3장 </vt:lpstr>
      <vt:lpstr>3장 </vt:lpstr>
      <vt:lpstr>4장 </vt:lpstr>
      <vt:lpstr>4장 </vt:lpstr>
      <vt:lpstr>5장 </vt:lpstr>
      <vt:lpstr>5장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현태 장</dc:creator>
  <cp:lastModifiedBy>현태 장</cp:lastModifiedBy>
  <cp:revision>4</cp:revision>
  <dcterms:created xsi:type="dcterms:W3CDTF">2023-10-04T00:20:14Z</dcterms:created>
  <dcterms:modified xsi:type="dcterms:W3CDTF">2023-10-05T05:29:27Z</dcterms:modified>
</cp:coreProperties>
</file>